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8" r:id="rId3"/>
    <p:sldId id="270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7" r:id="rId1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2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144" y="1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741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873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97846" y="808553"/>
            <a:ext cx="3548307" cy="18670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/>
              <a:t>Програмна</a:t>
            </a:r>
            <a:r>
              <a:rPr lang="ru-RU" sz="2400" dirty="0"/>
              <a:t> система </a:t>
            </a:r>
            <a:r>
              <a:rPr lang="ru-RU" sz="2400" dirty="0" err="1"/>
              <a:t>бінарної</a:t>
            </a:r>
            <a:r>
              <a:rPr lang="ru-RU" sz="2400" dirty="0"/>
              <a:t> </a:t>
            </a:r>
            <a:r>
              <a:rPr lang="ru-RU" sz="2400" dirty="0" err="1"/>
              <a:t>класифікації</a:t>
            </a:r>
            <a:r>
              <a:rPr lang="ru-RU" sz="2400" dirty="0"/>
              <a:t> </a:t>
            </a:r>
            <a:r>
              <a:rPr lang="ru-RU" sz="2400" dirty="0" err="1"/>
              <a:t>мовного</a:t>
            </a:r>
            <a:r>
              <a:rPr lang="ru-RU" sz="2400" dirty="0"/>
              <a:t> сигналу за </a:t>
            </a:r>
            <a:r>
              <a:rPr lang="ru-RU" sz="2400" dirty="0" err="1"/>
              <a:t>критерієм</a:t>
            </a:r>
            <a:r>
              <a:rPr lang="ru-RU" sz="2400" dirty="0"/>
              <a:t>	</a:t>
            </a:r>
            <a:br>
              <a:rPr lang="ru-RU" sz="2400" dirty="0"/>
            </a:br>
            <a:r>
              <a:rPr lang="ru-RU" sz="2400" dirty="0"/>
              <a:t>«Людина-ШІ»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27669" y="3323465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Тарасов Ростислав Максимович</a:t>
            </a:r>
            <a:r>
              <a:rPr lang="uk" dirty="0"/>
              <a:t>, ПЗПІ-23-8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</a:t>
            </a:r>
            <a:r>
              <a:rPr lang="ru-RU" dirty="0"/>
              <a:t>доц. </a:t>
            </a:r>
            <a:r>
              <a:rPr lang="ru-RU" dirty="0" err="1"/>
              <a:t>кафедри</a:t>
            </a:r>
            <a:r>
              <a:rPr lang="ru-RU" dirty="0"/>
              <a:t> ПІ </a:t>
            </a:r>
            <a:r>
              <a:rPr lang="ru-RU" dirty="0" err="1"/>
              <a:t>Андрій</a:t>
            </a:r>
            <a:r>
              <a:rPr lang="ru-RU" dirty="0"/>
              <a:t> Валентинович РАБОТЯГОВ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6 червня 2025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Аналіз предметної галузі. Актуальність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2693217"/>
            <a:ext cx="8520600" cy="1886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Зростання кількості </a:t>
            </a:r>
            <a:r>
              <a:rPr lang="en-US" sz="1600" dirty="0">
                <a:solidFill>
                  <a:srgbClr val="0D0D0D"/>
                </a:solidFill>
                <a:highlight>
                  <a:srgbClr val="FFFFFF"/>
                </a:highlight>
              </a:rPr>
              <a:t>Deepfake 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атак у фінансовому та медіа секторах.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Висока якість клонування голосу дифузійними моделями.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Необхідність верифікації контенту для забезпечення інформаційної безпеки.</a:t>
            </a:r>
            <a:endParaRPr sz="16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pic>
        <p:nvPicPr>
          <p:cNvPr id="1026" name="Picture 2" descr="What are deepfakes and how can I recognize them?">
            <a:extLst>
              <a:ext uri="{FF2B5EF4-FFF2-40B4-BE49-F238E27FC236}">
                <a16:creationId xmlns:a16="http://schemas.microsoft.com/office/drawing/2014/main" id="{2422BC2B-33BB-4C51-BA53-B740EF5CA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819" y="1005582"/>
            <a:ext cx="3225208" cy="168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err="1"/>
              <a:t>Аналіз</a:t>
            </a:r>
            <a:r>
              <a:rPr lang="ru-RU" sz="3200" dirty="0"/>
              <a:t> </a:t>
            </a:r>
            <a:r>
              <a:rPr lang="ru-RU" sz="3200" dirty="0" err="1"/>
              <a:t>предметної</a:t>
            </a:r>
            <a:r>
              <a:rPr lang="ru-RU" sz="3200" dirty="0"/>
              <a:t> </a:t>
            </a:r>
            <a:r>
              <a:rPr lang="ru-RU" sz="3200" dirty="0" err="1"/>
              <a:t>галузі</a:t>
            </a:r>
            <a:r>
              <a:rPr lang="ru-RU" sz="3200" dirty="0"/>
              <a:t>. </a:t>
            </a:r>
            <a:r>
              <a:rPr lang="ru-RU" sz="3200" dirty="0" err="1"/>
              <a:t>Огляд</a:t>
            </a:r>
            <a:r>
              <a:rPr lang="ru-RU" sz="3200" dirty="0"/>
              <a:t> </a:t>
            </a:r>
            <a:r>
              <a:rPr lang="ru-RU" sz="3200" dirty="0" err="1"/>
              <a:t>технологій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2937253"/>
            <a:ext cx="8520600" cy="1641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Порівняння стандартного синтезу </a:t>
            </a:r>
            <a:r>
              <a:rPr lang="en-US" sz="1600" dirty="0">
                <a:solidFill>
                  <a:srgbClr val="0D0D0D"/>
                </a:solidFill>
                <a:highlight>
                  <a:srgbClr val="FFFFFF"/>
                </a:highlight>
              </a:rPr>
              <a:t>Edge TTS 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та сучасного клонування </a:t>
            </a:r>
            <a:r>
              <a:rPr lang="en-US" sz="1600" dirty="0" err="1">
                <a:solidFill>
                  <a:srgbClr val="0D0D0D"/>
                </a:solidFill>
                <a:highlight>
                  <a:srgbClr val="FFFFFF"/>
                </a:highlight>
              </a:rPr>
              <a:t>LuxTTS</a:t>
            </a:r>
            <a:r>
              <a:rPr lang="en-US" sz="1600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lang="uk-UA" sz="16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Висновок: класичні спектральні методи (</a:t>
            </a:r>
            <a:r>
              <a:rPr lang="en-US" sz="1600" dirty="0">
                <a:solidFill>
                  <a:srgbClr val="0D0D0D"/>
                </a:solidFill>
                <a:highlight>
                  <a:srgbClr val="FFFFFF"/>
                </a:highlight>
              </a:rPr>
              <a:t>ML) 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стають менш ефективними проти </a:t>
            </a:r>
            <a:r>
              <a:rPr lang="uk-UA" sz="1600" dirty="0" err="1">
                <a:solidFill>
                  <a:srgbClr val="0D0D0D"/>
                </a:solidFill>
                <a:highlight>
                  <a:srgbClr val="FFFFFF"/>
                </a:highlight>
              </a:rPr>
              <a:t>нейромережевих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</a:rPr>
              <a:t> клонів, що імітують тембр людини.</a:t>
            </a:r>
            <a:endParaRPr sz="16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2BC2B-33BB-4C51-BA53-B740EF5CA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2597177" y="958539"/>
            <a:ext cx="3949645" cy="222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415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183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Мета. розробка гібридного програмного стенда для виявлення штучного мовлення.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Завдання.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1. Реалізувати біонічний аналіз у просторі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Хелвага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Щерби.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2. Навчити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ML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модель на основі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Random Forest.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3.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Інтегрувати утиліти клонування голосу для тестування.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4. Розробити веб інтерфейс із візуалізацією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XAI.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Архітектура програмного забезпечення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690650" y="3660540"/>
            <a:ext cx="6763068" cy="1204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uk-UA" sz="1200" dirty="0">
                <a:solidFill>
                  <a:srgbClr val="0D0D0D"/>
                </a:solidFill>
                <a:highlight>
                  <a:srgbClr val="FFFFFF"/>
                </a:highlight>
              </a:rPr>
              <a:t>Використання багатошарової архітектури (</a:t>
            </a:r>
            <a:r>
              <a:rPr lang="en-US" sz="1200" dirty="0">
                <a:solidFill>
                  <a:srgbClr val="0D0D0D"/>
                </a:solidFill>
                <a:highlight>
                  <a:srgbClr val="FFFFFF"/>
                </a:highlight>
              </a:rPr>
              <a:t>Presentation, Logic, Data).</a:t>
            </a:r>
            <a:endParaRPr lang="uk-UA" sz="12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uk-UA" sz="1200" dirty="0">
                <a:solidFill>
                  <a:srgbClr val="0D0D0D"/>
                </a:solidFill>
                <a:highlight>
                  <a:srgbClr val="FFFFFF"/>
                </a:highlight>
              </a:rPr>
              <a:t>Застосування </a:t>
            </a:r>
            <a:r>
              <a:rPr lang="uk-UA" sz="1200" dirty="0" err="1">
                <a:solidFill>
                  <a:srgbClr val="0D0D0D"/>
                </a:solidFill>
                <a:highlight>
                  <a:srgbClr val="FFFFFF"/>
                </a:highlight>
              </a:rPr>
              <a:t>патерну</a:t>
            </a:r>
            <a:r>
              <a:rPr lang="uk-UA" sz="1200" dirty="0">
                <a:solidFill>
                  <a:srgbClr val="0D0D0D"/>
                </a:solidFill>
                <a:highlight>
                  <a:srgbClr val="FFFFFF"/>
                </a:highlight>
              </a:rPr>
              <a:t> Стратегія для гнучкого перемикання між </a:t>
            </a:r>
            <a:r>
              <a:rPr lang="en-US" sz="1200" dirty="0">
                <a:solidFill>
                  <a:srgbClr val="0D0D0D"/>
                </a:solidFill>
                <a:highlight>
                  <a:srgbClr val="FFFFFF"/>
                </a:highlight>
              </a:rPr>
              <a:t>TTS </a:t>
            </a:r>
            <a:r>
              <a:rPr lang="uk-UA" sz="1200" dirty="0">
                <a:solidFill>
                  <a:srgbClr val="0D0D0D"/>
                </a:solidFill>
                <a:highlight>
                  <a:srgbClr val="FFFFFF"/>
                </a:highlight>
              </a:rPr>
              <a:t>провайдерами.</a:t>
            </a:r>
          </a:p>
          <a:p>
            <a:pPr marL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uk-UA" sz="1200" dirty="0" err="1">
                <a:solidFill>
                  <a:srgbClr val="0D0D0D"/>
                </a:solidFill>
                <a:highlight>
                  <a:srgbClr val="FFFFFF"/>
                </a:highlight>
              </a:rPr>
              <a:t>Мікросервісна</a:t>
            </a:r>
            <a:r>
              <a:rPr lang="uk-UA" sz="1200" dirty="0">
                <a:solidFill>
                  <a:srgbClr val="0D0D0D"/>
                </a:solidFill>
                <a:highlight>
                  <a:srgbClr val="FFFFFF"/>
                </a:highlight>
              </a:rPr>
              <a:t> взаємодія через </a:t>
            </a:r>
            <a:r>
              <a:rPr lang="en-US" sz="1200" dirty="0" err="1">
                <a:solidFill>
                  <a:srgbClr val="0D0D0D"/>
                </a:solidFill>
                <a:highlight>
                  <a:srgbClr val="FFFFFF"/>
                </a:highlight>
              </a:rPr>
              <a:t>FastAPI</a:t>
            </a:r>
            <a:r>
              <a:rPr lang="en-US" sz="1200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sz="1200"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3" name="AutoShape 2" descr="What is microservice architecture? A guide to future-proof composable apps  | Contentful">
            <a:extLst>
              <a:ext uri="{FF2B5EF4-FFF2-40B4-BE49-F238E27FC236}">
                <a16:creationId xmlns:a16="http://schemas.microsoft.com/office/drawing/2014/main" id="{AC372096-04A9-413F-B32B-F230FDCEF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C0FB2-1B1F-4327-AF05-FBBBDC0F8E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61"/>
          <a:stretch/>
        </p:blipFill>
        <p:spPr>
          <a:xfrm>
            <a:off x="1261833" y="682991"/>
            <a:ext cx="6315534" cy="2833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5059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 err="1"/>
              <a:t>Проєктування</a:t>
            </a:r>
            <a:r>
              <a:rPr lang="uk-UA" sz="3200" dirty="0"/>
              <a:t> системи. </a:t>
            </a:r>
            <a:r>
              <a:rPr lang="en-US" sz="3200" dirty="0"/>
              <a:t>UML </a:t>
            </a:r>
            <a:r>
              <a:rPr lang="uk-UA" sz="3200" dirty="0"/>
              <a:t>діаграми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3404742"/>
            <a:ext cx="5771559" cy="1174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Показано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модульну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структуру ядра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взаємодію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з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зовнішніми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процесами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генерації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через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підпроцеси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90B265-67B4-46B9-8230-24CE05CF8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75" y="855596"/>
            <a:ext cx="5598127" cy="28168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25335F-DE73-43F9-943F-1E2FEDF4F2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39"/>
          <a:stretch/>
        </p:blipFill>
        <p:spPr>
          <a:xfrm>
            <a:off x="6154665" y="270498"/>
            <a:ext cx="2634860" cy="46127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5059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 err="1"/>
              <a:t>Проєктування</a:t>
            </a:r>
            <a:r>
              <a:rPr lang="uk-UA" sz="3200" dirty="0"/>
              <a:t> системи. Біонічний метод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1507716" y="3819667"/>
            <a:ext cx="6893982" cy="1174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Перехід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від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часової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області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до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координатно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топологічного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простору v1 v2.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Аналіз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мікротремору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через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показники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Jitter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Shimmer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E7E20-2B26-49DA-A1DF-544804A38DF3}"/>
                  </a:ext>
                </a:extLst>
              </p:cNvPr>
              <p:cNvSpPr txBox="1"/>
              <p:nvPr/>
            </p:nvSpPr>
            <p:spPr>
              <a:xfrm>
                <a:off x="2366683" y="824581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uk-UA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uk-UA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uk-UA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uk-UA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𝑉𝑎𝑟𝑖𝑎𝑏𝑖𝑙𝑖𝑡𝑦</m:t>
                          </m:r>
                          <m:r>
                            <a:rPr lang="uk-UA" i="0">
                              <a:latin typeface="Cambria Math" panose="02040503050406030204" pitchFamily="18" charset="0"/>
                            </a:rPr>
                            <m:t>∗0.5</m:t>
                          </m:r>
                        </m:e>
                      </m:d>
                    </m:oMath>
                  </m:oMathPara>
                </a14:m>
                <a:endParaRPr lang="uk-UA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E7E20-2B26-49DA-A1DF-544804A38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83" y="824581"/>
                <a:ext cx="4572000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4DD2008-0569-4890-BB08-B6B0C60F6BA0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033" y="1216028"/>
            <a:ext cx="4929871" cy="2519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3341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525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Засоби розробки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3375340"/>
            <a:ext cx="8520600" cy="1455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Мова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Python 3.13.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Менеджер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залежностей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Poetry.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Бібліотеки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Librosa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(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звук),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Scikit learn (ML), Dash (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інтерфейс). Утиліта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FFmpeg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для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препроцесингу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098" name="Picture 2" descr="Python (programming language) - Wikipedia">
            <a:extLst>
              <a:ext uri="{FF2B5EF4-FFF2-40B4-BE49-F238E27FC236}">
                <a16:creationId xmlns:a16="http://schemas.microsoft.com/office/drawing/2014/main" id="{36E3A45D-AD49-4FF7-B7DE-B62A911CC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82" y="837955"/>
            <a:ext cx="1424386" cy="1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ntroduction to Python Poetry: Why It's a Game-Changer for Python  Developers | by Akshat Gadodia | Medium">
            <a:extLst>
              <a:ext uri="{FF2B5EF4-FFF2-40B4-BE49-F238E27FC236}">
                <a16:creationId xmlns:a16="http://schemas.microsoft.com/office/drawing/2014/main" id="{3F14084C-AE1C-4107-A841-4F6A4E980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4" y="2333737"/>
            <a:ext cx="2640293" cy="138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cikit-learn - Wikipedia">
            <a:extLst>
              <a:ext uri="{FF2B5EF4-FFF2-40B4-BE49-F238E27FC236}">
                <a16:creationId xmlns:a16="http://schemas.microsoft.com/office/drawing/2014/main" id="{322E53ED-0C25-4096-9A95-244F20A56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424" y="616062"/>
            <a:ext cx="3181289" cy="171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Librosa">
            <a:extLst>
              <a:ext uri="{FF2B5EF4-FFF2-40B4-BE49-F238E27FC236}">
                <a16:creationId xmlns:a16="http://schemas.microsoft.com/office/drawing/2014/main" id="{8DE2DEAA-3125-4CCC-951D-04DB1B37B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936" y="2565916"/>
            <a:ext cx="2132620" cy="87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Data Visualization with Python Dash | (日本語) 株式会社ブリスウェル ベトナム">
            <a:extLst>
              <a:ext uri="{FF2B5EF4-FFF2-40B4-BE49-F238E27FC236}">
                <a16:creationId xmlns:a16="http://schemas.microsoft.com/office/drawing/2014/main" id="{6C20C8B5-A621-4949-B732-178E4FEDE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500" y="274012"/>
            <a:ext cx="37338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Релиз FFmpeg 7.1 Péter / Хабр">
            <a:extLst>
              <a:ext uri="{FF2B5EF4-FFF2-40B4-BE49-F238E27FC236}">
                <a16:creationId xmlns:a16="http://schemas.microsoft.com/office/drawing/2014/main" id="{014E967E-9430-4E5A-B353-B88FB68C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769" y="2333737"/>
            <a:ext cx="2513832" cy="117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err="1"/>
              <a:t>Приклади</a:t>
            </a:r>
            <a:r>
              <a:rPr lang="ru-RU" sz="3200" dirty="0"/>
              <a:t> </a:t>
            </a:r>
            <a:r>
              <a:rPr lang="ru-RU" sz="3200" dirty="0" err="1"/>
              <a:t>екранних</a:t>
            </a:r>
            <a:r>
              <a:rPr lang="ru-RU" sz="3200" dirty="0"/>
              <a:t> форм та коду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1486261" y="3592079"/>
            <a:ext cx="4893379" cy="12829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Візуалізація</a:t>
            </a:r>
            <a:r>
              <a:rPr lang="ru-RU" dirty="0"/>
              <a:t> того, як система </a:t>
            </a:r>
            <a:r>
              <a:rPr lang="ru-RU" dirty="0" err="1"/>
              <a:t>пояснює</a:t>
            </a:r>
            <a:r>
              <a:rPr lang="ru-RU" dirty="0"/>
              <a:t> </a:t>
            </a:r>
            <a:r>
              <a:rPr lang="uk-UA" dirty="0"/>
              <a:t>результат класифікації </a:t>
            </a:r>
            <a:r>
              <a:rPr lang="ru-RU" dirty="0"/>
              <a:t>через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гармонік</a:t>
            </a:r>
            <a:r>
              <a:rPr lang="ru-RU" dirty="0"/>
              <a:t> </a:t>
            </a:r>
            <a:r>
              <a:rPr lang="ru-RU" dirty="0" err="1"/>
              <a:t>Chroma</a:t>
            </a:r>
            <a:r>
              <a:rPr lang="ru-RU" dirty="0"/>
              <a:t> та спектрального </a:t>
            </a:r>
            <a:r>
              <a:rPr lang="ru-RU" dirty="0" err="1"/>
              <a:t>нахилу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8E28B-64CB-491B-867D-63716A340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62" y="770445"/>
            <a:ext cx="5162979" cy="2621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Аналіз результатів експерименту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2943133"/>
            <a:ext cx="8520600" cy="1636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Тестування на вибірці з 90 зразків.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Точність розпізнавання </a:t>
            </a:r>
            <a:r>
              <a:rPr lang="en-US" dirty="0"/>
              <a:t>Edge TTS </a:t>
            </a:r>
            <a:r>
              <a:rPr lang="uk-UA" dirty="0"/>
              <a:t>склала 96 відсотків.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Точність розпізнавання клонів </a:t>
            </a:r>
            <a:r>
              <a:rPr lang="en-US" dirty="0" err="1"/>
              <a:t>LuxTTS</a:t>
            </a:r>
            <a:r>
              <a:rPr lang="en-US" dirty="0"/>
              <a:t> </a:t>
            </a:r>
            <a:r>
              <a:rPr lang="uk-UA" dirty="0"/>
              <a:t>через </a:t>
            </a:r>
            <a:r>
              <a:rPr lang="en-US" dirty="0"/>
              <a:t>ML </a:t>
            </a:r>
            <a:r>
              <a:rPr lang="uk-UA" dirty="0"/>
              <a:t>впала до 43 відсотків.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Біонічний метод дозволив виявити 70 відсотків складних підробок.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C6C94-7C08-414C-A03D-DACE859AC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63" y="741846"/>
            <a:ext cx="5374673" cy="1141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3D1F10-241A-4662-AC19-A11EA8F39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131" y="1883749"/>
            <a:ext cx="4366187" cy="11768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129035"/>
            <a:ext cx="8520600" cy="3450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ru-RU" dirty="0"/>
              <a:t>Створено </a:t>
            </a:r>
            <a:r>
              <a:rPr lang="ru-RU" dirty="0" err="1"/>
              <a:t>працездатний</a:t>
            </a:r>
            <a:r>
              <a:rPr lang="ru-RU" dirty="0"/>
              <a:t> прототип </a:t>
            </a:r>
            <a:r>
              <a:rPr lang="ru-RU" dirty="0" err="1"/>
              <a:t>гібридної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верифікації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ru-RU" dirty="0" err="1"/>
              <a:t>Експериментально</a:t>
            </a:r>
            <a:r>
              <a:rPr lang="ru-RU" dirty="0"/>
              <a:t> доведено </a:t>
            </a:r>
            <a:r>
              <a:rPr lang="ru-RU" dirty="0" err="1"/>
              <a:t>ефективність</a:t>
            </a:r>
            <a:r>
              <a:rPr lang="ru-RU" dirty="0"/>
              <a:t> </a:t>
            </a:r>
            <a:r>
              <a:rPr lang="ru-RU" dirty="0" err="1"/>
              <a:t>поєднання</a:t>
            </a:r>
            <a:r>
              <a:rPr lang="ru-RU" dirty="0"/>
              <a:t> </a:t>
            </a:r>
            <a:r>
              <a:rPr lang="ru-RU" dirty="0" err="1"/>
              <a:t>геометричних</a:t>
            </a:r>
            <a:r>
              <a:rPr lang="ru-RU" dirty="0"/>
              <a:t> та </a:t>
            </a:r>
            <a:r>
              <a:rPr lang="ru-RU" dirty="0" err="1"/>
              <a:t>спектральних</a:t>
            </a:r>
            <a:r>
              <a:rPr lang="ru-RU" dirty="0"/>
              <a:t> </a:t>
            </a:r>
            <a:r>
              <a:rPr lang="ru-RU" dirty="0" err="1"/>
              <a:t>ознак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ru-RU" dirty="0" err="1"/>
              <a:t>Перспективи</a:t>
            </a:r>
            <a:r>
              <a:rPr lang="ru-RU" dirty="0"/>
              <a:t>: </a:t>
            </a:r>
            <a:r>
              <a:rPr lang="ru-RU" dirty="0" err="1"/>
              <a:t>автоматизація</a:t>
            </a:r>
            <a:r>
              <a:rPr lang="ru-RU" dirty="0"/>
              <a:t> </a:t>
            </a:r>
            <a:r>
              <a:rPr lang="ru-RU" dirty="0" err="1"/>
              <a:t>калібрування</a:t>
            </a:r>
            <a:r>
              <a:rPr lang="ru-RU" dirty="0"/>
              <a:t> та </a:t>
            </a:r>
            <a:r>
              <a:rPr lang="ru-RU" dirty="0" err="1"/>
              <a:t>хмарна</a:t>
            </a:r>
            <a:r>
              <a:rPr lang="ru-RU" dirty="0"/>
              <a:t> </a:t>
            </a:r>
            <a:r>
              <a:rPr lang="ru-RU" dirty="0" err="1"/>
              <a:t>контейнеризація</a:t>
            </a:r>
            <a:r>
              <a:rPr lang="ru-RU" dirty="0"/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61</TotalTime>
  <Words>347</Words>
  <Application>Microsoft Office PowerPoint</Application>
  <PresentationFormat>On-screen Show (16:9)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Cambria Math</vt:lpstr>
      <vt:lpstr>Open Sans</vt:lpstr>
      <vt:lpstr>Economica</vt:lpstr>
      <vt:lpstr>Arial</vt:lpstr>
      <vt:lpstr>Шаблон презентації кваліфікаційної роботи магістрів</vt:lpstr>
      <vt:lpstr>Програмна система бінарної класифікації мовного сигналу за критерієм  «Людина-ШІ»</vt:lpstr>
      <vt:lpstr>Аналіз предметної галузі. Актуальність</vt:lpstr>
      <vt:lpstr>Аналіз предметної галузі. Огляд технологій</vt:lpstr>
      <vt:lpstr>Постановка задачі</vt:lpstr>
      <vt:lpstr>Архітектура програмного забезпечення</vt:lpstr>
      <vt:lpstr>Проєктування системи. UML діаграми</vt:lpstr>
      <vt:lpstr>Проєктування системи. Біонічний метод</vt:lpstr>
      <vt:lpstr>Засоби розробки</vt:lpstr>
      <vt:lpstr>Приклади екранних форм та коду</vt:lpstr>
      <vt:lpstr>Аналіз результатів експерименту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бінарної класифікації мовного сигналу за критерієм  «Людина-ШІ»</dc:title>
  <dc:creator>Tarasov Rostik</dc:creator>
  <cp:lastModifiedBy>Tarasov Rostik</cp:lastModifiedBy>
  <cp:revision>8</cp:revision>
  <dcterms:created xsi:type="dcterms:W3CDTF">2026-06-06T12:08:08Z</dcterms:created>
  <dcterms:modified xsi:type="dcterms:W3CDTF">2026-06-06T13:09:44Z</dcterms:modified>
</cp:coreProperties>
</file>